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11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85800" y="5303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West Yorkshire Bus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106984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Post-pandemic recovery, service provision and public support | 2010–2025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105613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2724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Portfolio analysis report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3127248"/>
            <a:ext cx="9509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</a:rPr>
              <a:t>A Power BI analysis of passenger demand, bus mileage, public support and punctuality across West Yorkshire and peer combined authorities.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95020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38B3"/>
                </a:solidFill>
              </a:rPr>
              <a:t>January Sambrook • September 2026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1056132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14400" y="535838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96F3"/>
                </a:solidFill>
              </a:rPr>
              <a:t>Key message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5303520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West Yorkshire’s passenger demand has not returned to pre-pandemic levels, while total bus mileage has contracted even further and a larger share of the network is publicly supported.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What the analysis shows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2057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04088" y="1197864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2025 passenger journeys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264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116.6m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88920" y="1078992"/>
            <a:ext cx="2057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898648" y="1197864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passenger recovery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80360" y="14264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81.1%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983480" y="1078992"/>
            <a:ext cx="2057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93208" y="1197864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mileage recovery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74920" y="14264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75.5%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178040" y="1078992"/>
            <a:ext cx="2057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287768" y="1197864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supported mileage share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69480" y="14264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16.1%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72600" y="1078992"/>
            <a:ext cx="205740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482328" y="1197864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on-time services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464040" y="14264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77%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" y="233172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96F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Headline findings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26517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85800" y="2651760"/>
            <a:ext cx="64008" cy="10515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50392" y="276148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Demand has not fully recovered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0392" y="3035808"/>
            <a:ext cx="31821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Passenger journeys in 2025 are around 81% of the 2019 baseline in West Yorkshire.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343400" y="26517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343400" y="2651760"/>
            <a:ext cx="64008" cy="1051560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507992" y="276148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Service mileage has fallen further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07992" y="3035808"/>
            <a:ext cx="31821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Total vehicle miles are around 75.5% of 2019, suggesting network contraction has outpaced passenger recovery.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001000" y="26517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001000" y="2651760"/>
            <a:ext cx="64008" cy="1051560"/>
          </a:xfrm>
          <a:prstGeom prst="rect">
            <a:avLst/>
          </a:prstGeom>
          <a:solidFill>
            <a:srgbClr val="D953A8"/>
          </a:solidFill>
          <a:ln w="12700">
            <a:solidFill>
              <a:srgbClr val="D95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165592" y="276148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Publicly supported mileage matters more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65592" y="3035808"/>
            <a:ext cx="31821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Commercial mileage fell sharply, while supported mileage rose relative to 2019.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85800" y="4206240"/>
            <a:ext cx="10789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14400" y="44348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38B3"/>
                </a:solidFill>
              </a:rPr>
              <a:t>Overall conclusion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71800" y="4352544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The analysis points to a smaller, more publicly supported network that is carrying fewer passengers than before the pandemic. West Yorkshire is mid-table against peers for 2025 passenger recovery and punctuality.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brief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Analytical question and objectives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8B3"/>
                </a:solidFill>
              </a:rPr>
              <a:t>Main question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8660" y="1431036"/>
            <a:ext cx="5166360" cy="166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Has West Yorkshire’s bus network recovered since the pandemic — and how have service provision, public support and reliability changed?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0" y="1051560"/>
            <a:ext cx="512064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6751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8B3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1874520"/>
            <a:ext cx="44348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</a:rPr>
              <a:t>Measure passenger and mileage recovery against a 2019 baseline.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Compare commercial, supported and publicly controlled mileage trends.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Assess public support per passenger journey and punctuality.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Benchmark West Yorkshire against peer combined authorities.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Create a portfolio-ready Power BI report and presentation narrative.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2062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64008" cy="1234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50392" y="4315968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Why this matters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" y="4590288"/>
            <a:ext cx="491947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Bus recovery is not just a demand question. It also reflects service supply, funding structure and reliability — all of which affect access to work, education and services.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Public transport tables used in the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110996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438912"/>
          </a:xfrm>
          <a:prstGeom prst="rect">
            <a:avLst/>
          </a:prstGeom>
          <a:solidFill>
            <a:srgbClr val="DCEEFF"/>
          </a:solidFill>
          <a:ln w="635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41832" y="15453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59152" y="1545336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What it contributed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48472" y="15453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Final query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1856232"/>
            <a:ext cx="10469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41832" y="19842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BUS01e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59152" y="1984248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Passenger journeys by local authority, 2010–2025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48472" y="1984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Fact_PassengerJourneys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2295144"/>
            <a:ext cx="1046988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41832" y="2423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BUS02d_mi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59152" y="2423160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Vehicle miles by authority and service type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48472" y="2423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Fact_VehicleMiles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2734056"/>
            <a:ext cx="10469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41832" y="28620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BUS05di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59152" y="2862072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Estimated net government support, £000s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48472" y="2862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Fact_GovSupport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3172968"/>
            <a:ext cx="1046988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41832" y="33009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BUS09a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59152" y="3300984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Percentage of non-frequent services running on 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48472" y="3300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Fact_Punctuality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" y="3611880"/>
            <a:ext cx="10469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41832" y="37398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Authority mapping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59152" y="3739896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Peer combined authority lookup and clean grouping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48472" y="3739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Authority_Mapping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8680" y="48920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868680" y="4892040"/>
            <a:ext cx="64008" cy="868680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33272" y="5001768"/>
            <a:ext cx="4782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Relevance to the project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33272" y="5276088"/>
            <a:ext cx="4782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Together, the tables allow a joined analysis of outcomes, service provision, funding and reliability — rather than treating passenger journeys as the only measure of recovery.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263640" y="48920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263640" y="4892040"/>
            <a:ext cx="64008" cy="868680"/>
          </a:xfrm>
          <a:prstGeom prst="rect">
            <a:avLst/>
          </a:prstGeom>
          <a:solidFill>
            <a:srgbClr val="EB7D42"/>
          </a:solidFill>
          <a:ln w="12700">
            <a:solidFill>
              <a:srgbClr val="EB7D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28232" y="5001768"/>
            <a:ext cx="4782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Unit handling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28232" y="5276088"/>
            <a:ext cx="4782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Passenger journeys and vehicle miles are in millions. Government support was held in £000s and converted to £m / £ per journey using DAX measures.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preparation and model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Cleaning, transformation and modelling decisions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8077" y="5428838"/>
            <a:ext cx="8335537" cy="1301145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928078" y="521395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8B3"/>
                </a:solidFill>
              </a:rPr>
              <a:t>Power Query preparation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59149" y="5447947"/>
            <a:ext cx="8452338" cy="12820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1F2937"/>
                </a:solidFill>
              </a:rPr>
              <a:t>Removed non-data header rows from each DfT workbook.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</a:rPr>
              <a:t>Promoted true column headers and standardised names.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</a:rPr>
              <a:t>Unpivoted year columns into a consistent Year field.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</a:rPr>
              <a:t>Converted DfT shorthand markers such as [z] to null, not zero.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</a:rPr>
              <a:t>Kept raw support values as £000s, then used DAX for analysis units.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</a:rPr>
              <a:t>Filtered to the six peer combined authorities using a mapping table.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928078" y="8275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8B3"/>
                </a:solidFill>
              </a:rPr>
              <a:t>Star schema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5</a:t>
            </a:r>
            <a:endParaRPr lang="en-US" sz="7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DDAF8CF-3E24-6DF7-0084-6C3BCD4B5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078" y="1105029"/>
            <a:ext cx="8335538" cy="4115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 BI report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Three-page analytical report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950976"/>
            <a:ext cx="11384280" cy="5212080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/mnt/data/9e4048df-850e-4c13-abba-f756f890b91d.png"/>
          <p:cNvPicPr>
            <a:picLocks noChangeAspect="1"/>
          </p:cNvPicPr>
          <p:nvPr/>
        </p:nvPicPr>
        <p:blipFill>
          <a:blip r:embed="rId3"/>
          <a:srcRect l="931" t="1768" r="973"/>
          <a:stretch>
            <a:fillRect/>
          </a:stretch>
        </p:blipFill>
        <p:spPr>
          <a:xfrm>
            <a:off x="1770184" y="1148862"/>
            <a:ext cx="8663353" cy="48953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6272784"/>
            <a:ext cx="4297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573"/>
                </a:solidFill>
              </a:rPr>
              <a:t>Page 1: West Yorkshire overview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 1: Recovery is incomplete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2019 baseline shows the scale of the gap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04088" y="117043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Passenger recovery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99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81.1%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4360" y="205740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04088" y="217627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Vehicle-mile recovery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404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75.5%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04088" y="318211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On-time services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3410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77%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94360" y="4343400"/>
            <a:ext cx="64008" cy="12344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58952" y="445312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Interpretation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" y="4727448"/>
            <a:ext cx="299923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Passenger journeys have recovered more than service mileage, suggesting the network has contracted more than demand. Reliability remains below the stronger 2010s levels.</a:t>
            </a:r>
            <a:endParaRPr lang="en-US" sz="930" dirty="0"/>
          </a:p>
        </p:txBody>
      </p:sp>
      <p:pic>
        <p:nvPicPr>
          <p:cNvPr id="19" name="Image 0" descr="/mnt/data/9e4048df-850e-4c13-abba-f756f890b9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04816"/>
            <a:ext cx="7269480" cy="410206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434840" y="580644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573"/>
                </a:solidFill>
              </a:rPr>
              <a:t>Dashboard view filtered to West Yorkshire and 2025; line chart indexes passenger journeys and vehicle miles to 2019 = 100.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 2: The mileage mix has shifted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Commercial mileage has contracted while supported mileage is more prominent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pic>
        <p:nvPicPr>
          <p:cNvPr id="6" name="Image 0" descr="/mnt/data/3b5017f5-ad8c-4130-9e39-882c73ad41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2434"/>
            <a:ext cx="6629400" cy="36731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14300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562088" y="1261872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Supported mileage share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543800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16.1%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452360" y="233172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562088" y="2450592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Commercial mileage change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54380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−29.4%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7452360" y="352044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562088" y="3639312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6573"/>
                </a:solidFill>
              </a:rPr>
              <a:t>Supported mileage change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543800" y="3867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+18.3%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7452360" y="480060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7452360" y="4800600"/>
            <a:ext cx="64008" cy="1005840"/>
          </a:xfrm>
          <a:prstGeom prst="rect">
            <a:avLst/>
          </a:prstGeom>
          <a:solidFill>
            <a:srgbClr val="D953A8"/>
          </a:solidFill>
          <a:ln w="12700">
            <a:solidFill>
              <a:srgbClr val="D95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7616952" y="491032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Interpretation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16952" y="5184648"/>
            <a:ext cx="318211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A larger share of West Yorkshire’s remaining bus mileage is now publicly supported. That makes funding and service-planning decisions increasingly important to network resilience.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 3: Support per passenger remains elevated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Funding pressure rose sharply when passenger demand collapsed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pic>
        <p:nvPicPr>
          <p:cNvPr id="6" name="Image 0" descr="/mnt/data/3b5017f5-ad8c-4130-9e39-882c73ad41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77766"/>
            <a:ext cx="6537960" cy="36225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60920" y="1051560"/>
            <a:ext cx="41148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635240" y="1298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8B3"/>
                </a:solidFill>
              </a:rPr>
              <a:t>Support per passenger journey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35240" y="17190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£0.25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555480" y="1920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573"/>
                </a:solidFill>
              </a:rPr>
              <a:t>in 2025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35240" y="23225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B6573"/>
                </a:solidFill>
              </a:rPr>
              <a:t>Pre-pandemic values were closer to £0.13 per journey. The 2021 spike reflects very low passenger volumes during the pandemic.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7360920" y="3429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7360920" y="3429000"/>
            <a:ext cx="64008" cy="1234440"/>
          </a:xfrm>
          <a:prstGeom prst="rect">
            <a:avLst/>
          </a:prstGeom>
          <a:solidFill>
            <a:srgbClr val="EB7D42"/>
          </a:solidFill>
          <a:ln w="12700">
            <a:solidFill>
              <a:srgbClr val="EB7D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525512" y="353872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Caveat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25512" y="3813048"/>
            <a:ext cx="38221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Support figures are current prices and are not adjusted for inflation. They are also net revenue measures, so local authority values can be affected by offsets and accounting practices.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360920" y="49377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7360920" y="4937760"/>
            <a:ext cx="64008" cy="777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7525512" y="50474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Why this is useful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525512" y="5321808"/>
            <a:ext cx="38221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This KPI connects public support to passenger outcomes, rather than reporting funding in isolation.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Peer comparison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Benchmarking recovery, punctuality and public support | 2025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pic>
        <p:nvPicPr>
          <p:cNvPr id="6" name="Image 0" descr="/mnt/data/bbb77678-427c-44a3-b945-e637c085d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189" y="914400"/>
            <a:ext cx="7810862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5504688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822960" y="5504688"/>
            <a:ext cx="64008" cy="777240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987552" y="561441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Benchmark takeaway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87552" y="5888736"/>
            <a:ext cx="50109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West Yorkshire is mid-table for passenger recovery and punctuality. It does not stand out as either the strongest or weakest performer across the peer group.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6355080" y="5504688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355080" y="5504688"/>
            <a:ext cx="64008" cy="777240"/>
          </a:xfrm>
          <a:prstGeom prst="rect">
            <a:avLst/>
          </a:prstGeom>
          <a:solidFill>
            <a:srgbClr val="D953A8"/>
          </a:solidFill>
          <a:ln w="12700">
            <a:solidFill>
              <a:srgbClr val="D95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519672" y="5614416"/>
            <a:ext cx="4553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Analytical caution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19672" y="5888736"/>
            <a:ext cx="45537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The scatter shows association, not causation. Higher recorded support per passenger does not translate neatly into better punctuality across this peer group.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Insights and recommendations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What the analysis suggests for decision-makers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097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64008" cy="12801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50392" y="1207008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1. Track demand and supply together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1481328"/>
            <a:ext cx="322783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Passenger journeys alone understate the story. Mileage has contracted more sharply, so recovery should be monitored as both demand and service provision.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343400" y="1097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343400" y="1097280"/>
            <a:ext cx="64008" cy="1280160"/>
          </a:xfrm>
          <a:prstGeom prst="rect">
            <a:avLst/>
          </a:prstGeom>
          <a:solidFill>
            <a:srgbClr val="D953A8"/>
          </a:solidFill>
          <a:ln w="12700">
            <a:solidFill>
              <a:srgbClr val="D95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07992" y="1207008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2. Monitor reliance on supported services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1481328"/>
            <a:ext cx="322783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Supported mileage has become a larger share of West Yorkshire’s network. Funding risk should be assessed as part of service planning.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001000" y="10972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001000" y="1097280"/>
            <a:ext cx="64008" cy="1280160"/>
          </a:xfrm>
          <a:prstGeom prst="rect">
            <a:avLst/>
          </a:prstGeom>
          <a:solidFill>
            <a:srgbClr val="EB7D42"/>
          </a:solidFill>
          <a:ln w="12700">
            <a:solidFill>
              <a:srgbClr val="EB7D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165592" y="1207008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</a:rPr>
              <a:t>3. Treat punctuality as a separate performance lens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65592" y="1481328"/>
            <a:ext cx="322783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3"/>
                </a:solidFill>
              </a:rPr>
              <a:t>Passenger recovery and service mileage do not automatically imply reliability. Punctuality needs its own tracking and operational investigation.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85800" y="2834640"/>
            <a:ext cx="1083564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05840" y="3108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8B3"/>
                </a:solidFill>
              </a:rPr>
              <a:t>Recommended next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3566160"/>
            <a:ext cx="98755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</a:rPr>
              <a:t>Add inflation-adjusted support measures to separate nominal and real-terms change.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Bring in route-level or operator-level data to identify where service contraction is concentrated.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Overlay population, employment and deprivation context to assess social impact.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Track punctuality alongside congestion or roadworks data where available.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438B3"/>
          </a:solidFill>
          <a:ln w="12700">
            <a:solidFill>
              <a:srgbClr val="2438B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Limitations and next steps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4805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How to interpret the findings responsibly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46920" y="201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West Yorkshire buses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394960" cy="5212080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8B3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44805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Annual aggregated data masks route-level variation and local service changes.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Funding is at current prices, not inflation-adjusted.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Net support can be affected by offsets, accounting practices and inter-authority transfers.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Punctuality data does not explain causes such as congestion, staffing, roadworks or operational disruption.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The analysis uses peer combined authorities, not every possible comparator.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5212080" cy="5212080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294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8B3"/>
                </a:solidFill>
              </a:rPr>
              <a:t>Portfolio skills demonstrated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1719072"/>
            <a:ext cx="44348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Power Query cleaning and unpivoting of inconsistent public datasets.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Dimensional modelling with shared Year and Authority dimensions.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DAX measures for baselines, recovery indices and per-journey metrics.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Dashboard layout, storytelling and visual interpretation.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937"/>
                </a:solidFill>
              </a:rPr>
              <a:t>Clear documentation of caveats and analytical assumptions.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629400" y="5230368"/>
            <a:ext cx="4343400" cy="3200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629400" y="54406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</a:rPr>
              <a:t>Final takeaway: the report is strong because it explains how the network changed, not just what the latest numbers are.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1567160" y="654710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AA6B2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1207</Words>
  <Application>Microsoft Office PowerPoint</Application>
  <PresentationFormat>Widescreen</PresentationFormat>
  <Paragraphs>177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Yorkshire Bus Performance</dc:title>
  <dc:subject>West Yorkshire bus performance analysis</dc:subject>
  <dc:creator>January Sambrook</dc:creator>
  <cp:lastModifiedBy>january sambrook</cp:lastModifiedBy>
  <cp:revision>3</cp:revision>
  <dcterms:created xsi:type="dcterms:W3CDTF">2026-09-21T08:06:05Z</dcterms:created>
  <dcterms:modified xsi:type="dcterms:W3CDTF">2026-09-21T08:39:53Z</dcterms:modified>
</cp:coreProperties>
</file>